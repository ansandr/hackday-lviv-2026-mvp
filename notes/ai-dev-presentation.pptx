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SKELAR deck · правила v62 · 26.10.2026 · Brighterly · Розробка та підтримка продукту в еру ШІ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Scheme" Type="http://schemas.openxmlformats.org/officeDocument/2006/relationships/image" Target="../media/brand-scheme-slid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Scheme" Type="http://schemas.openxmlformats.org/officeDocument/2006/relationships/image" Target="../media/brand-scheme-slid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brand-scheme-slid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Scheme" Type="http://schemas.openxmlformats.org/officeDocument/2006/relationships/image" Target="../media/brand-scheme-slid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90D17">
                  <a:alpha val="45098"/>
                </a:srgbClr>
              </a:gs>
              <a:gs pos="45000">
                <a:srgbClr val="090D17">
                  <a:alpha val="25098"/>
                </a:srgbClr>
              </a:gs>
              <a:gs pos="100000">
                <a:srgbClr val="090D17">
                  <a:alpha val="7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30461" y="952500"/>
            <a:ext cx="3405039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785938" y="3214167"/>
            <a:ext cx="14716125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9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Arial"/>
              <a:buNone/>
            </a:pPr>
            <a:r>
              <a:rPr b="0" i="0" lang="en-US" sz="8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Розробка та підтримка продукту в еру ШІ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785225" y="5900217"/>
            <a:ext cx="6717551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2982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A2A6B1"/>
                </a:solidFill>
                <a:latin typeface="Arial"/>
                <a:ea typeface="Arial"/>
                <a:cs typeface="Arial"/>
                <a:sym typeface="Arial"/>
              </a:rPr>
              <a:t>Роль інженера: тоді і зараз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90599" y="6668244"/>
            <a:ext cx="8106802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361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Arial"/>
                <a:ea typeface="Arial"/>
                <a:cs typeface="Arial"/>
                <a:sym typeface="Arial"/>
              </a:rPr>
              <a:t>Микола Топор, BackEnd Engineer, Brighterly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як пишуться продукти · тоді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Класичний цикл розробки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Схема" descr="Класичний цикл розробки: сім етапів, кожен виконують люди"/>
          <p:cNvPicPr>
            <a:picLocks noChangeAspect="1"/>
          </p:cNvPicPr>
          <p:nvPr/>
        </p:nvPicPr>
        <p:blipFill>
          <a:blip r:embed="rIdScheme"/>
          <a:stretch>
            <a:fillRect/>
          </a:stretch>
        </p:blipFill>
        <p:spPr>
          <a:xfrm>
            <a:off x="952500" y="2857500"/>
            <a:ext cx="163830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як пишуться продукти · зараз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Той самий цикл з ШІ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3" name="Схема" descr="Той самий цикл з ШІ: етапи, які виконує ШІ, разом з людиною, або людина"/>
          <p:cNvPicPr>
            <a:picLocks noChangeAspect="1"/>
          </p:cNvPicPr>
          <p:nvPr/>
        </p:nvPicPr>
        <p:blipFill>
          <a:blip r:embed="rIdScheme"/>
          <a:stretch>
            <a:fillRect/>
          </a:stretch>
        </p:blipFill>
        <p:spPr>
          <a:xfrm>
            <a:off x="952500" y="2857500"/>
            <a:ext cx="163830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принцип 1 · порядок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52500" y="1509489"/>
            <a:ext cx="7534656" cy="17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ШІ масштабує те, що є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52500" y="4097313"/>
            <a:ext cx="647700" cy="647700"/>
          </a:xfrm>
          <a:prstGeom prst="ellipse">
            <a:avLst/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914400" y="4097313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809750" y="4097313"/>
            <a:ext cx="7103745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хаос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809750" y="4597152"/>
            <a:ext cx="6651689" cy="11169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Різні підходи — ШІ щоразу пише по-своєму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952500" y="6380857"/>
            <a:ext cx="647700" cy="647700"/>
          </a:xfrm>
          <a:prstGeom prst="ellipse">
            <a:avLst/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914400" y="6380857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809750" y="6380857"/>
            <a:ext cx="7103745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порядок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09750" y="6880696"/>
            <a:ext cx="6651689" cy="1656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Описані архітектура і підходи — ШІ пише як уся команда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Схема" descr="Хаос і порядок: ШІ масштабує те, що є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952500"/>
            <a:ext cx="78105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принцип 2 · контекст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ШІ потрібен контекст бізнесу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952500" y="2760538"/>
            <a:ext cx="4095147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docs/features/&lt;фіча&gt;/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903961" y="2760538"/>
            <a:ext cx="4933184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— 10 файлів на кожну фічу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52500" y="3450878"/>
            <a:ext cx="5270450" cy="5883622"/>
          </a:xfrm>
          <a:prstGeom prst="roundRect">
            <a:avLst>
              <a:gd fmla="val 5422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333500" y="3831878"/>
            <a:ext cx="4959295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і навіщо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333500" y="4544690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FEATURE.md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333500" y="4939010"/>
            <a:ext cx="4959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головний опис фічі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333500" y="5399187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business-context.md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333500" y="5793507"/>
            <a:ext cx="4959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бізнес-контекст і правила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333500" y="6253683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end-to-end-flow.md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333500" y="6648004"/>
            <a:ext cx="4959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флоу крок за кроком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508700" y="3450878"/>
            <a:ext cx="5270525" cy="5883622"/>
          </a:xfrm>
          <a:prstGeom prst="roundRect">
            <a:avLst>
              <a:gd fmla="val 5422" name="adj"/>
            </a:avLst>
          </a:prstGeom>
          <a:solidFill>
            <a:srgbClr val="343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889700" y="3831878"/>
            <a:ext cx="4959377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Де фіча в коді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889700" y="4544690"/>
            <a:ext cx="495937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entry-points.json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889700" y="4939010"/>
            <a:ext cx="49593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точки входу в код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889700" y="5399187"/>
            <a:ext cx="495937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per-app-responsibility.md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889700" y="5793507"/>
            <a:ext cx="49593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що робить кожен застосунок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889700" y="6253683"/>
            <a:ext cx="495937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backend-structure.md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889700" y="6648004"/>
            <a:ext cx="49593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структура бекенду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889700" y="7108180"/>
            <a:ext cx="495937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frontend-structure.md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889700" y="7502500"/>
            <a:ext cx="49593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структура фронтенду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889700" y="7962677"/>
            <a:ext cx="495937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data-model.md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889700" y="8356997"/>
            <a:ext cx="49593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модель даних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2064975" y="3450878"/>
            <a:ext cx="5270450" cy="5883622"/>
          </a:xfrm>
          <a:prstGeom prst="roundRect">
            <a:avLst>
              <a:gd fmla="val 5422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2445975" y="3831878"/>
            <a:ext cx="4959295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Зв’язки і ризики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2445975" y="4544690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integration-points.md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2445975" y="4939010"/>
            <a:ext cx="4959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перетини з іншими фічами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2445975" y="5399187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known-gotchas.md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2445975" y="5793507"/>
            <a:ext cx="4959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відомі підводні камені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принцип 2 · контекст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52500" y="1509489"/>
            <a:ext cx="16554450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Inter"/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Документація синхронізується з кодом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52500" y="2762920"/>
            <a:ext cx="5270450" cy="3142878"/>
          </a:xfrm>
          <a:prstGeom prst="roundRect">
            <a:avLst>
              <a:gd fmla="val 9092" name="adj"/>
            </a:avLst>
          </a:prstGeom>
          <a:solidFill>
            <a:srgbClr val="191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333500" y="3143920"/>
            <a:ext cx="459953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907753" y="3143920"/>
            <a:ext cx="2369061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Зміна в коді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333500" y="3723382"/>
            <a:ext cx="4643704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нова фіча або доопрацювання у будь-якому репозиторії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333500" y="4819948"/>
            <a:ext cx="4508450" cy="704850"/>
          </a:xfrm>
          <a:prstGeom prst="roundRect">
            <a:avLst>
              <a:gd fmla="val 13514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504950" y="4943773"/>
            <a:ext cx="430080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356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з 05: логіка не та → задача → правимо код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508700" y="2762920"/>
            <a:ext cx="5270525" cy="3142878"/>
          </a:xfrm>
          <a:prstGeom prst="roundRect">
            <a:avLst>
              <a:gd fmla="val 9092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889700" y="3143920"/>
            <a:ext cx="532954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536954" y="3143920"/>
            <a:ext cx="2030507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Перевірка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889700" y="3723382"/>
            <a:ext cx="4643781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чи описана фіча в документації і чи синхронізовані зміни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2064975" y="2762920"/>
            <a:ext cx="5270450" cy="3142878"/>
          </a:xfrm>
          <a:prstGeom prst="roundRect">
            <a:avLst>
              <a:gd fmla="val 9092" name="adj"/>
            </a:avLst>
          </a:prstGeom>
          <a:solidFill>
            <a:srgbClr val="950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2445975" y="3143920"/>
            <a:ext cx="536674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096949" y="3143920"/>
            <a:ext cx="3670972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ШІ питає інженера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2445975" y="3723382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синхронізувати документацію?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2445975" y="5048548"/>
            <a:ext cx="1356494" cy="476250"/>
          </a:xfrm>
          <a:prstGeom prst="roundRect">
            <a:avLst>
              <a:gd fmla="val 20000" name="adj"/>
            </a:avLst>
          </a:prstGeom>
          <a:solidFill>
            <a:srgbClr val="B21C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2617425" y="5172373"/>
            <a:ext cx="1089794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356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так →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52500" y="6191548"/>
            <a:ext cx="5270450" cy="3142952"/>
          </a:xfrm>
          <a:prstGeom prst="roundRect">
            <a:avLst>
              <a:gd fmla="val 9092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333500" y="6572548"/>
            <a:ext cx="547241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995041" y="6572548"/>
            <a:ext cx="2251353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Pull request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333500" y="7152010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CCACA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CCACA"/>
                </a:solidFill>
                <a:latin typeface="Inter"/>
                <a:ea typeface="Inter"/>
                <a:cs typeface="Inter"/>
                <a:sym typeface="Inter"/>
              </a:rPr>
              <a:t>у репозиторій документації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508700" y="6191548"/>
            <a:ext cx="5270525" cy="3142952"/>
          </a:xfrm>
          <a:prstGeom prst="roundRect">
            <a:avLst>
              <a:gd fmla="val 9092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889700" y="6572548"/>
            <a:ext cx="527968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531968" y="6572548"/>
            <a:ext cx="3756102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Продакт перевіряє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889700" y="7113910"/>
            <a:ext cx="4643781" cy="6225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397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бізнес-контекст · e2e флоу · неочікувану поведінку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889700" y="8477250"/>
            <a:ext cx="1250007" cy="476250"/>
          </a:xfrm>
          <a:prstGeom prst="roundRect">
            <a:avLst>
              <a:gd fmla="val 20000" name="adj"/>
            </a:avLst>
          </a:prstGeom>
          <a:solidFill>
            <a:srgbClr val="343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061150" y="8601075"/>
            <a:ext cx="9833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356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ок → 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254008" y="8477250"/>
            <a:ext cx="2256458" cy="476250"/>
          </a:xfrm>
          <a:prstGeom prst="roundRect">
            <a:avLst>
              <a:gd fmla="val 20000" name="adj"/>
            </a:avLst>
          </a:prstGeom>
          <a:solidFill>
            <a:srgbClr val="343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425458" y="8601075"/>
            <a:ext cx="1989758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356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логіка не та →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2064975" y="6191548"/>
            <a:ext cx="5270450" cy="3142952"/>
          </a:xfrm>
          <a:prstGeom prst="roundRect">
            <a:avLst>
              <a:gd fmla="val 9092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12445975" y="6572548"/>
            <a:ext cx="537790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3098066" y="6572548"/>
            <a:ext cx="1423630" cy="4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Мердж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2445975" y="7152010"/>
            <a:ext cx="49592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документація актуальна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952500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191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1333500" y="9675912"/>
            <a:ext cx="5351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вхід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173412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554412" y="9675912"/>
            <a:ext cx="9526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людина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811860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950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192860" y="9675912"/>
            <a:ext cx="15778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 + людина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008266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389266" y="9675912"/>
            <a:ext cx="3598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кейс: розробка фічі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Розробка фічі: тоді і зараз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952500" y="2912938"/>
            <a:ext cx="8853488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тоді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952500" y="3393728"/>
            <a:ext cx="8853488" cy="82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Inter"/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3–10 днів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952500" y="4691881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428750" y="4647084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Грумінг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038600" y="4647084"/>
            <a:ext cx="2217547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аналіз і оцінка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52500" y="5163294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952500" y="5391820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428750" y="5347022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Тести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038600" y="5347022"/>
            <a:ext cx="3010808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на всі бізнес-кейси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52500" y="5858470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52500" y="6086996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1428750" y="6042199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Реалізація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038600" y="6042199"/>
            <a:ext cx="1796973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код руками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952500" y="6553646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952500" y="6782172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428750" y="6737449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Acceptance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038600" y="6737449"/>
            <a:ext cx="2918802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продакт перевіряє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52500" y="7248897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952500" y="7477423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428750" y="7432625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Деплой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038600" y="7432625"/>
            <a:ext cx="1233413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інженер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286875" y="2912938"/>
            <a:ext cx="8853488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зараз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286875" y="3393728"/>
            <a:ext cx="8853488" cy="826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Inter"/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≈ 1 день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9286875" y="4691881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763125" y="4647084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Грумінг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2372975" y="4647084"/>
            <a:ext cx="134709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команда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9286875" y="5163294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9286875" y="5391820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950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9763125" y="5347022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Тест-кейси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2372975" y="5347022"/>
            <a:ext cx="4391300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 пише, інженер перевіряє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286875" y="5858470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9286875" y="6086996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763125" y="6042199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Реалізація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2372975" y="6042199"/>
            <a:ext cx="430709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286875" y="6553646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9286875" y="6782172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9763125" y="6737449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Документація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2372975" y="6737449"/>
            <a:ext cx="2943359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оновлюється сама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9286875" y="7248897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9286875" y="7477423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9763125" y="7432625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Acceptance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2372975" y="7432625"/>
            <a:ext cx="3744560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продакт читає e2e флоу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9286875" y="7944073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9286875" y="8172599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9763125" y="8127802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Тест на dev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2372975" y="8127802"/>
            <a:ext cx="3494164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 за описаними флоу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286875" y="8639249"/>
            <a:ext cx="8048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9286875" y="886777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9763125" y="8823052"/>
            <a:ext cx="261937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Деплой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2372975" y="8823052"/>
            <a:ext cx="1233413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інженер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52500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333500" y="9675912"/>
            <a:ext cx="9526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людина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2590949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950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2971949" y="9675912"/>
            <a:ext cx="15778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 + людина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787354" y="9686925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5168354" y="9675912"/>
            <a:ext cx="3598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ШІ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214021" y="9675912"/>
            <a:ext cx="81049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Грумінг · в роботі: скіл, що опитує продакта через документацію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кейс: підтримка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Агент підтримки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8" name="Схема" descr="Агент підтримки: бере запит із чату, аналізує джерела і дає вердикт"/>
          <p:cNvPicPr>
            <a:picLocks noChangeAspect="1"/>
          </p:cNvPicPr>
          <p:nvPr/>
        </p:nvPicPr>
        <p:blipFill>
          <a:blip r:embed="rIdScheme"/>
          <a:stretch>
            <a:fillRect/>
          </a:stretch>
        </p:blipFill>
        <p:spPr>
          <a:xfrm>
            <a:off x="952500" y="2857500"/>
            <a:ext cx="163830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1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де інженер незамінний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952500" y="1509489"/>
            <a:ext cx="7534656" cy="14781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Inter"/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Зелені тести ≠ правильна фіча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952500" y="3797275"/>
            <a:ext cx="647700" cy="647700"/>
          </a:xfrm>
          <a:prstGeom prst="ellipse">
            <a:avLst/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914400" y="3797275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809750" y="3797275"/>
            <a:ext cx="710374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на вході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1809750" y="4210645"/>
            <a:ext cx="6651689" cy="13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Погано описали вимоги — ШІ в кращому разі перепитає, а в гіршому додумає сам.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52500" y="5968082"/>
            <a:ext cx="647700" cy="647700"/>
          </a:xfrm>
          <a:prstGeom prst="ellipse">
            <a:avLst/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914400" y="5968082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809750" y="5968082"/>
            <a:ext cx="7103745" cy="3752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на виході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1809750" y="6381452"/>
            <a:ext cx="6651689" cy="8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Тести зелені, але ШІ міг підігнати їх під те, що сам зробив.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952500" y="7711827"/>
            <a:ext cx="647700" cy="647700"/>
          </a:xfrm>
          <a:prstGeom prst="ellipse">
            <a:avLst/>
          </a:prstGeom>
          <a:solidFill>
            <a:srgbClr val="FD3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914400" y="7711827"/>
            <a:ext cx="72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2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809750" y="7711827"/>
            <a:ext cx="6651689" cy="13192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4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Inter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Тому тест-кейси формує або перевіряє інженер — ще до реалізації.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головне питання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Чи замінить ШІ інженерів?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952500" y="2912938"/>
            <a:ext cx="8048625" cy="6421562"/>
          </a:xfrm>
          <a:prstGeom prst="roundRect">
            <a:avLst>
              <a:gd fmla="val 4450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333500" y="3293938"/>
            <a:ext cx="8015288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розробник, що лише пише код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333500" y="3984278"/>
            <a:ext cx="7505224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Бере готове ТЗ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1333500" y="4733255"/>
            <a:ext cx="7286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1333500" y="4952330"/>
            <a:ext cx="7505224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Пише код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333500" y="5701308"/>
            <a:ext cx="7286625" cy="9525"/>
          </a:xfrm>
          <a:prstGeom prst="rect">
            <a:avLst/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1333500" y="5920383"/>
            <a:ext cx="7505224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Передає далі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333500" y="8420100"/>
            <a:ext cx="3179936" cy="533400"/>
          </a:xfrm>
          <a:prstGeom prst="roundRect">
            <a:avLst>
              <a:gd fmla="val 17857" name="adj"/>
            </a:avLst>
          </a:prstGeom>
          <a:solidFill>
            <a:srgbClr val="343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1504950" y="8543925"/>
            <a:ext cx="2932434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цю роль забирає ШІ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9286875" y="2912938"/>
            <a:ext cx="8048625" cy="6421562"/>
          </a:xfrm>
          <a:prstGeom prst="roundRect">
            <a:avLst>
              <a:gd fmla="val 4450" name="adj"/>
            </a:avLst>
          </a:prstGeom>
          <a:solidFill>
            <a:srgbClr val="3439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9667875" y="3293938"/>
            <a:ext cx="8015288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інженер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9667875" y="3984278"/>
            <a:ext cx="7505224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Проєктує рішення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9667875" y="4733255"/>
            <a:ext cx="7286625" cy="9525"/>
          </a:xfrm>
          <a:prstGeom prst="rect">
            <a:avLst/>
          </a:prstGeom>
          <a:solidFill>
            <a:srgbClr val="545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9667875" y="4952330"/>
            <a:ext cx="7505224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Розуміє бізнес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9667875" y="5701308"/>
            <a:ext cx="7286625" cy="9525"/>
          </a:xfrm>
          <a:prstGeom prst="rect">
            <a:avLst/>
          </a:prstGeom>
          <a:solidFill>
            <a:srgbClr val="545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9667875" y="5920383"/>
            <a:ext cx="7505224" cy="11169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Будує рішення, що працюють і масштабуються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9667875" y="8420100"/>
            <a:ext cx="2671242" cy="533400"/>
          </a:xfrm>
          <a:prstGeom prst="roundRect">
            <a:avLst>
              <a:gd fmla="val 17857" name="adj"/>
            </a:avLst>
          </a:prstGeom>
          <a:solidFill>
            <a:srgbClr val="41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9839325" y="8543925"/>
            <a:ext cx="24084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цінність зростає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250" y="9525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952500" y="952500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що робити студентам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952500" y="1509489"/>
            <a:ext cx="16554450" cy="9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5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25"/>
              <a:buFont typeface="Inter"/>
              <a:buNone/>
            </a:pPr>
            <a:r>
              <a:rPr b="0" i="0" lang="en-US" sz="65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Що вчити</a:t>
            </a:r>
            <a:endParaRPr b="0" i="0" sz="6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52500" y="2912938"/>
            <a:ext cx="16383000" cy="1801267"/>
          </a:xfrm>
          <a:prstGeom prst="roundRect">
            <a:avLst>
              <a:gd fmla="val 15864" name="adj"/>
            </a:avLst>
          </a:prstGeom>
          <a:solidFill>
            <a:srgbClr val="191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1333500" y="3293938"/>
            <a:ext cx="17183100" cy="577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Фреймворки · мови · інструменти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333500" y="3928616"/>
            <a:ext cx="171831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з ШІ — за дні чи тижні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952500" y="5095205"/>
            <a:ext cx="18021300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фундамент ↓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952500" y="5690295"/>
            <a:ext cx="3881438" cy="2549277"/>
          </a:xfrm>
          <a:prstGeom prst="roundRect">
            <a:avLst>
              <a:gd fmla="val 11209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1333500" y="6071295"/>
            <a:ext cx="3235881" cy="182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Безпека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119688" y="5690295"/>
            <a:ext cx="3881438" cy="2549277"/>
          </a:xfrm>
          <a:prstGeom prst="roundRect">
            <a:avLst>
              <a:gd fmla="val 11209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5500688" y="6071295"/>
            <a:ext cx="3235881" cy="182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Серверна архітектура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286875" y="5690295"/>
            <a:ext cx="3881438" cy="2549277"/>
          </a:xfrm>
          <a:prstGeom prst="roundRect">
            <a:avLst>
              <a:gd fmla="val 11209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9667875" y="6071295"/>
            <a:ext cx="3235881" cy="182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Алгоритми і структури даних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3454063" y="5690295"/>
            <a:ext cx="3881438" cy="2549277"/>
          </a:xfrm>
          <a:prstGeom prst="roundRect">
            <a:avLst>
              <a:gd fmla="val 11209" name="adj"/>
            </a:avLst>
          </a:prstGeom>
          <a:solidFill>
            <a:srgbClr val="292D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3835062" y="6071295"/>
            <a:ext cx="3235881" cy="18253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Бази даних і мережі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952500" y="8525321"/>
            <a:ext cx="16874490" cy="8472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Це дає розуміння, чи правильно ШІ побудував рішення, — і гарантію, що воно працює і масштабується.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90D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90D17">
                  <a:alpha val="45098"/>
                </a:srgbClr>
              </a:gs>
              <a:gs pos="45000">
                <a:srgbClr val="090D17">
                  <a:alpha val="25098"/>
                </a:srgbClr>
              </a:gs>
              <a:gs pos="100000">
                <a:srgbClr val="090D17">
                  <a:alpha val="7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0" name="Google Shape;3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30461" y="952500"/>
            <a:ext cx="3405039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4"/>
          <p:cNvSpPr/>
          <p:nvPr/>
        </p:nvSpPr>
        <p:spPr>
          <a:xfrm>
            <a:off x="8205367" y="3036689"/>
            <a:ext cx="1877191" cy="442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2700"/>
              <a:buFont typeface="Inter"/>
              <a:buNone/>
            </a:pPr>
            <a:r>
              <a:rPr b="0" i="0" lang="en-US" sz="27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// головне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343505" y="3727028"/>
            <a:ext cx="15600916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42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5"/>
              <a:buFont typeface="Inter"/>
              <a:buNone/>
            </a:pPr>
            <a:r>
              <a:rPr b="0" i="0" lang="en-US" sz="117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Код став дешевим.</a:t>
            </a:r>
            <a:endParaRPr b="0" i="0" sz="11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2276475" y="5632028"/>
            <a:ext cx="13735050" cy="1656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7655"/>
              </a:lnSpc>
              <a:spcBef>
                <a:spcPts val="0"/>
              </a:spcBef>
              <a:spcAft>
                <a:spcPts val="0"/>
              </a:spcAft>
              <a:buClr>
                <a:srgbClr val="A2A6B1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A2A6B1"/>
                </a:solidFill>
                <a:latin typeface="Inter"/>
                <a:ea typeface="Inter"/>
                <a:cs typeface="Inter"/>
                <a:sym typeface="Inter"/>
              </a:rPr>
              <a:t>Розуміння, що потрібно бізнесу, і гарантія, що це реалізовано правильно, — досі дорогі. Саме за це зараз і платять.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